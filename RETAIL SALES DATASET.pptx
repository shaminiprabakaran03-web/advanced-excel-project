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82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89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8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9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4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40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68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5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97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594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2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7081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877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791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84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08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95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E6D6212-B95F-4581-A576-C347D0DABC7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2A880-6660-465C-9AFB-947C4BFCF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04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BCEE-957F-4FF9-96C6-B1A46A447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565" y="1921566"/>
            <a:ext cx="8176591" cy="1815548"/>
          </a:xfrm>
        </p:spPr>
        <p:txBody>
          <a:bodyPr/>
          <a:lstStyle/>
          <a:p>
            <a:pPr algn="ctr"/>
            <a:r>
              <a:rPr lang="en-GB" sz="4000" dirty="0">
                <a:latin typeface="Cambria" panose="02040503050406030204" pitchFamily="18" charset="0"/>
                <a:ea typeface="Cambria" panose="02040503050406030204" pitchFamily="18" charset="0"/>
              </a:rPr>
              <a:t>RETAIL SALES DATASET ANALYSIS –</a:t>
            </a:r>
            <a:br>
              <a:rPr lang="en-GB" sz="4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4000" dirty="0">
                <a:latin typeface="Cambria" panose="02040503050406030204" pitchFamily="18" charset="0"/>
                <a:ea typeface="Cambria" panose="02040503050406030204" pitchFamily="18" charset="0"/>
              </a:rPr>
              <a:t>ADVANCED EXCEL PROJECT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D9DC7-2740-442F-8ABB-69876018BB00}"/>
              </a:ext>
            </a:extLst>
          </p:cNvPr>
          <p:cNvSpPr txBox="1"/>
          <p:nvPr/>
        </p:nvSpPr>
        <p:spPr>
          <a:xfrm>
            <a:off x="914400" y="4227443"/>
            <a:ext cx="3604591" cy="1667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SHAMINI P</a:t>
            </a:r>
          </a:p>
          <a:p>
            <a:pPr>
              <a:lnSpc>
                <a:spcPct val="200000"/>
              </a:lnSpc>
            </a:pPr>
            <a:r>
              <a:rPr lang="en-GB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DATA ANALYTICS</a:t>
            </a:r>
          </a:p>
          <a:p>
            <a:pPr>
              <a:lnSpc>
                <a:spcPct val="200000"/>
              </a:lnSpc>
            </a:pPr>
            <a:r>
              <a:rPr lang="en-GB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SEP OCT BATCH</a:t>
            </a:r>
            <a:endParaRPr lang="en-IN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219376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9E4BE5-B186-46FB-B022-EFB2FC9AC498}"/>
              </a:ext>
            </a:extLst>
          </p:cNvPr>
          <p:cNvSpPr txBox="1"/>
          <p:nvPr/>
        </p:nvSpPr>
        <p:spPr>
          <a:xfrm>
            <a:off x="887896" y="795130"/>
            <a:ext cx="10508974" cy="4898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INTRODUCTION:</a:t>
            </a:r>
          </a:p>
          <a:p>
            <a:endParaRPr lang="en-GB" b="1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OVERVIEW:</a:t>
            </a:r>
          </a:p>
          <a:p>
            <a:endParaRPr lang="en-GB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Book Antiqua" panose="02040602050305030304" pitchFamily="18" charset="0"/>
              </a:rPr>
              <a:t>        To analyse sales data to identify trends, understand sales performance and provide future actionable insights, capturing essential attributes that drive retail operations and customer interaction.</a:t>
            </a:r>
          </a:p>
          <a:p>
            <a:pPr>
              <a:lnSpc>
                <a:spcPct val="150000"/>
              </a:lnSpc>
            </a:pPr>
            <a:endParaRPr lang="en-GB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OBJECTIVE: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To understand the highest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To create simple visualization of sales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To predictions about future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To analyse retail sales data and identify basic trends over time.</a:t>
            </a:r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81731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9E8CD-7D0C-4800-8255-279957A6BE23}"/>
              </a:ext>
            </a:extLst>
          </p:cNvPr>
          <p:cNvSpPr txBox="1"/>
          <p:nvPr/>
        </p:nvSpPr>
        <p:spPr>
          <a:xfrm>
            <a:off x="640611" y="457056"/>
            <a:ext cx="10535478" cy="3502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DATASET OVERVIEW :</a:t>
            </a:r>
          </a:p>
          <a:p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Book Antiqua" panose="02040602050305030304" pitchFamily="18" charset="0"/>
              </a:rPr>
              <a:t>Dataset Overview : </a:t>
            </a:r>
            <a:r>
              <a:rPr lang="en-GB" dirty="0">
                <a:latin typeface="Book Antiqua" panose="02040602050305030304" pitchFamily="18" charset="0"/>
              </a:rPr>
              <a:t>1001 rows, 9 columns (Transaction ID, Date, Customer ID, Gender, etc..)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b="1" dirty="0">
              <a:latin typeface="Book Antiqua" panose="0204060205030503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Book Antiqua" panose="02040602050305030304" pitchFamily="18" charset="0"/>
              </a:rPr>
              <a:t>Data cleaning: </a:t>
            </a:r>
          </a:p>
          <a:p>
            <a:r>
              <a:rPr lang="en-GB" b="1" dirty="0">
                <a:latin typeface="Book Antiqua" panose="02040602050305030304" pitchFamily="18" charset="0"/>
              </a:rPr>
              <a:t>       .  </a:t>
            </a:r>
            <a:r>
              <a:rPr lang="en-GB" dirty="0">
                <a:latin typeface="Book Antiqua" panose="02040602050305030304" pitchFamily="18" charset="0"/>
              </a:rPr>
              <a:t>Removes duplicates (none found)</a:t>
            </a:r>
          </a:p>
          <a:p>
            <a:r>
              <a:rPr lang="en-GB" dirty="0">
                <a:latin typeface="Book Antiqua" panose="02040602050305030304" pitchFamily="18" charset="0"/>
              </a:rPr>
              <a:t>       .  Adjusted columns and rows</a:t>
            </a:r>
          </a:p>
          <a:p>
            <a:r>
              <a:rPr lang="en-GB" dirty="0">
                <a:latin typeface="Book Antiqua" panose="02040602050305030304" pitchFamily="18" charset="0"/>
              </a:rPr>
              <a:t>       .  Freeze Pane</a:t>
            </a:r>
          </a:p>
          <a:p>
            <a:r>
              <a:rPr lang="en-GB" dirty="0">
                <a:latin typeface="Book Antiqua" panose="02040602050305030304" pitchFamily="18" charset="0"/>
              </a:rPr>
              <a:t>       .  Calculated total sales amount</a:t>
            </a:r>
          </a:p>
          <a:p>
            <a:endParaRPr lang="en-GB" dirty="0">
              <a:latin typeface="Book Antiqua" panose="02040602050305030304" pitchFamily="18" charset="0"/>
            </a:endParaRPr>
          </a:p>
          <a:p>
            <a:endParaRPr lang="en-GB" b="1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BFBA5-8790-434D-AE7E-CA380857C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30" y="3294607"/>
            <a:ext cx="4131447" cy="2660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6BAA4C-6499-4C4A-81A4-836899382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311" y="2813778"/>
            <a:ext cx="5459896" cy="3275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4EB0FF-2A71-42F4-9E9A-4E16F3883493}"/>
              </a:ext>
            </a:extLst>
          </p:cNvPr>
          <p:cNvSpPr txBox="1"/>
          <p:nvPr/>
        </p:nvSpPr>
        <p:spPr>
          <a:xfrm>
            <a:off x="1028488" y="6116022"/>
            <a:ext cx="323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Raw Data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C8FAE-6EE6-47EB-BD85-789F3AE35A7E}"/>
              </a:ext>
            </a:extLst>
          </p:cNvPr>
          <p:cNvSpPr txBox="1"/>
          <p:nvPr/>
        </p:nvSpPr>
        <p:spPr>
          <a:xfrm>
            <a:off x="6993917" y="6274040"/>
            <a:ext cx="323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Clean Data</a:t>
            </a:r>
            <a:endParaRPr lang="en-IN" dirty="0"/>
          </a:p>
        </p:txBody>
      </p:sp>
      <p:pic>
        <p:nvPicPr>
          <p:cNvPr id="10" name="Graphic 9" descr="Arrow: Straight with solid fill">
            <a:extLst>
              <a:ext uri="{FF2B5EF4-FFF2-40B4-BE49-F238E27FC236}">
                <a16:creationId xmlns:a16="http://schemas.microsoft.com/office/drawing/2014/main" id="{9931003A-5402-4346-879D-CD36BBC1D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946290" y="3988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578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2D22-B340-4B5B-9D41-D778A867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74934"/>
          </a:xfrm>
        </p:spPr>
        <p:txBody>
          <a:bodyPr/>
          <a:lstStyle/>
          <a:p>
            <a:r>
              <a:rPr lang="en-GB" sz="1800" dirty="0">
                <a:solidFill>
                  <a:schemeClr val="accent2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C</a:t>
            </a:r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ALCULATION OF DERIVED METRICS :</a:t>
            </a: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      </a:t>
            </a:r>
            <a:endParaRPr lang="en-IN" sz="1800" dirty="0">
              <a:solidFill>
                <a:schemeClr val="accent2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F89F4-D940-415C-8044-F60654AC8D15}"/>
              </a:ext>
            </a:extLst>
          </p:cNvPr>
          <p:cNvSpPr txBox="1"/>
          <p:nvPr/>
        </p:nvSpPr>
        <p:spPr>
          <a:xfrm>
            <a:off x="636103" y="940904"/>
            <a:ext cx="9647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Book Antiqua" panose="02040602050305030304" pitchFamily="18" charset="0"/>
              </a:rPr>
              <a:t>Total sales amount and gross sale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Book Antiqua" panose="02040602050305030304" pitchFamily="18" charset="0"/>
              </a:rPr>
              <a:t>Countif</a:t>
            </a:r>
            <a:r>
              <a:rPr lang="en-GB" dirty="0"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Sum of total sales of each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9CAB1-DE8F-4A8B-B640-DEB6E521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830" y="927652"/>
            <a:ext cx="5090032" cy="35976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085703-1722-4DDD-B2EA-E34943C3F8E8}"/>
              </a:ext>
            </a:extLst>
          </p:cNvPr>
          <p:cNvSpPr/>
          <p:nvPr/>
        </p:nvSpPr>
        <p:spPr>
          <a:xfrm>
            <a:off x="10638801" y="834850"/>
            <a:ext cx="675864" cy="389563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B3862-1F0E-40D5-9AFD-700DE8EC9E7F}"/>
              </a:ext>
            </a:extLst>
          </p:cNvPr>
          <p:cNvSpPr txBox="1"/>
          <p:nvPr/>
        </p:nvSpPr>
        <p:spPr>
          <a:xfrm>
            <a:off x="11319260" y="2459502"/>
            <a:ext cx="1444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Total</a:t>
            </a:r>
            <a:r>
              <a:rPr lang="en-GB" dirty="0"/>
              <a:t> </a:t>
            </a:r>
          </a:p>
          <a:p>
            <a:r>
              <a:rPr lang="en-GB" dirty="0">
                <a:latin typeface="Arial Black" panose="020B0A04020102020204" pitchFamily="34" charset="0"/>
              </a:rPr>
              <a:t>sales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3BA2EB-2D46-4975-83F2-5F5FE6C23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43" y="3525406"/>
            <a:ext cx="5512904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6824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0DE95B8-8FB9-47E9-9766-F7F2A096C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88" y="4077751"/>
            <a:ext cx="3745024" cy="2308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E278BF-E689-45B7-BDDA-649EDBF0C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03" y="3215899"/>
            <a:ext cx="3723861" cy="2308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E733A4-7A2A-4D50-9BC9-9A8A4675B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234" y="464990"/>
            <a:ext cx="3939504" cy="2161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FD2DC4-127F-48AB-A18C-C5722ADC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35178"/>
          </a:xfrm>
        </p:spPr>
        <p:txBody>
          <a:bodyPr/>
          <a:lstStyle/>
          <a:p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PIVOT TABLE AND PIVOT CHARTS :</a:t>
            </a: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3F1AB-8B74-4817-B434-342CD4816C0D}"/>
              </a:ext>
            </a:extLst>
          </p:cNvPr>
          <p:cNvSpPr txBox="1"/>
          <p:nvPr/>
        </p:nvSpPr>
        <p:spPr>
          <a:xfrm>
            <a:off x="609600" y="932134"/>
            <a:ext cx="11330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b="1" dirty="0"/>
              <a:t>Pivot Tables: </a:t>
            </a:r>
            <a:r>
              <a:rPr lang="en-GB" dirty="0"/>
              <a:t>Categorized by gender, age and Order date.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Pivot Charts: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Clustered bar: Sales by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Clustered Column: sales by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Line with markers: Timeline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Pie chart: High sale</a:t>
            </a:r>
          </a:p>
          <a:p>
            <a:pPr marL="342900" indent="-342900">
              <a:buFont typeface="+mj-lt"/>
              <a:buAutoNum type="alphaL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64061-CC92-4B2B-8705-73B140B6B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082" y="3069032"/>
            <a:ext cx="3939504" cy="266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2E70EE-2F28-43DA-AFD0-EE2D7FD3CA21}"/>
              </a:ext>
            </a:extLst>
          </p:cNvPr>
          <p:cNvSpPr txBox="1"/>
          <p:nvPr/>
        </p:nvSpPr>
        <p:spPr>
          <a:xfrm>
            <a:off x="10393225" y="5117001"/>
            <a:ext cx="1331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G</a:t>
            </a:r>
            <a:r>
              <a:rPr lang="en-IN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ender</a:t>
            </a:r>
          </a:p>
          <a:p>
            <a:r>
              <a:rPr lang="en-IN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Category</a:t>
            </a:r>
            <a:endParaRPr lang="en-GB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0CBD7-972C-4CE4-B74F-ACEF6DCB1EEF}"/>
              </a:ext>
            </a:extLst>
          </p:cNvPr>
          <p:cNvSpPr txBox="1"/>
          <p:nvPr/>
        </p:nvSpPr>
        <p:spPr>
          <a:xfrm>
            <a:off x="10057679" y="1955188"/>
            <a:ext cx="1331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Age</a:t>
            </a:r>
            <a:endParaRPr lang="en-IN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Category</a:t>
            </a:r>
            <a:endParaRPr lang="en-GB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70842-8F9B-4CA7-B8F1-CEF22A85126B}"/>
              </a:ext>
            </a:extLst>
          </p:cNvPr>
          <p:cNvSpPr txBox="1"/>
          <p:nvPr/>
        </p:nvSpPr>
        <p:spPr>
          <a:xfrm>
            <a:off x="2297195" y="4494276"/>
            <a:ext cx="133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Timeline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81FA8C-7771-412F-A9D2-C2B7F7658551}"/>
              </a:ext>
            </a:extLst>
          </p:cNvPr>
          <p:cNvSpPr txBox="1"/>
          <p:nvPr/>
        </p:nvSpPr>
        <p:spPr>
          <a:xfrm>
            <a:off x="6743190" y="5924023"/>
            <a:ext cx="2054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High Sale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28058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6BDC-A580-415B-B544-DF284113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74934"/>
          </a:xfrm>
        </p:spPr>
        <p:txBody>
          <a:bodyPr/>
          <a:lstStyle/>
          <a:p>
            <a:pPr algn="ctr"/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DASHBOARD OVERVIEW:</a:t>
            </a: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85205-68F2-42C6-9BBE-C65EC9F9829B}"/>
              </a:ext>
            </a:extLst>
          </p:cNvPr>
          <p:cNvSpPr txBox="1"/>
          <p:nvPr/>
        </p:nvSpPr>
        <p:spPr>
          <a:xfrm>
            <a:off x="646111" y="927652"/>
            <a:ext cx="10724254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2">
                    <a:lumMod val="40000"/>
                    <a:lumOff val="60000"/>
                  </a:schemeClr>
                </a:solidFill>
              </a:rPr>
              <a:t>Dashboard Purpose: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>
                    <a:lumMod val="85000"/>
                  </a:schemeClr>
                </a:solidFill>
              </a:rPr>
              <a:t>Dashboard purpose</a:t>
            </a:r>
            <a:r>
              <a:rPr lang="en-IN" b="1" dirty="0"/>
              <a:t>:</a:t>
            </a:r>
            <a:r>
              <a:rPr lang="en-GB" dirty="0"/>
              <a:t> Visually summarize key performance and support data-driven decision-making.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</a:rPr>
              <a:t>Key performance: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Total value of sales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Total quantity sold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Highest sale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Trends: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Pivot table &amp; Pivot charts </a:t>
            </a:r>
            <a:r>
              <a:rPr lang="en-GB" dirty="0"/>
              <a:t>categorized </a:t>
            </a:r>
          </a:p>
          <a:p>
            <a:pPr>
              <a:lnSpc>
                <a:spcPct val="150000"/>
              </a:lnSpc>
            </a:pPr>
            <a:r>
              <a:rPr lang="en-GB" dirty="0"/>
              <a:t>     by gender, age, highest sale and</a:t>
            </a:r>
          </a:p>
          <a:p>
            <a:pPr>
              <a:lnSpc>
                <a:spcPct val="150000"/>
              </a:lnSpc>
            </a:pPr>
            <a:r>
              <a:rPr lang="en-GB" dirty="0"/>
              <a:t>      Order date.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Slicer for product category, date</a:t>
            </a:r>
            <a:endParaRPr lang="en-IN" dirty="0"/>
          </a:p>
          <a:p>
            <a:endParaRPr lang="en-IN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21B55-EA6B-4AB5-ABC7-5042A2F58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56" y="1974574"/>
            <a:ext cx="6387548" cy="41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887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32A5-E18C-4921-B64A-FA9C5FC9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14691"/>
          </a:xfrm>
        </p:spPr>
        <p:txBody>
          <a:bodyPr/>
          <a:lstStyle/>
          <a:p>
            <a:pPr algn="ctr"/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What-if analysis &amp; Goal Seek</a:t>
            </a: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FDC97-0762-4634-9CEB-524FB3147973}"/>
              </a:ext>
            </a:extLst>
          </p:cNvPr>
          <p:cNvSpPr txBox="1"/>
          <p:nvPr/>
        </p:nvSpPr>
        <p:spPr>
          <a:xfrm>
            <a:off x="596348" y="1139687"/>
            <a:ext cx="105619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What-if scenario:</a:t>
            </a:r>
          </a:p>
          <a:p>
            <a:pPr>
              <a:lnSpc>
                <a:spcPct val="150000"/>
              </a:lnSpc>
            </a:pPr>
            <a:r>
              <a:rPr lang="en-GB" dirty="0"/>
              <a:t>  By changing price &amp; quantity found the high sale and low sale.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Goal Seek</a:t>
            </a:r>
            <a:endParaRPr lang="en-IN" dirty="0"/>
          </a:p>
          <a:p>
            <a:r>
              <a:rPr lang="en-IN" dirty="0"/>
              <a:t>       </a:t>
            </a:r>
            <a:r>
              <a:rPr lang="en-GB" sz="1800" b="0" i="0" u="none" strike="noStrike" dirty="0">
                <a:effectLst/>
                <a:latin typeface="Calibri" panose="020F0502020204030204" pitchFamily="34" charset="0"/>
              </a:rPr>
              <a:t> To get 5,00,000 profit want to achieve </a:t>
            </a:r>
            <a:r>
              <a:rPr lang="en-GB" sz="1800" b="0" i="0" u="none" strike="noStrike">
                <a:effectLst/>
                <a:latin typeface="Calibri" panose="020F0502020204030204" pitchFamily="34" charset="0"/>
              </a:rPr>
              <a:t>quantity 1096.49</a:t>
            </a:r>
            <a:r>
              <a:rPr lang="en-GB"/>
              <a:t> 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A9EFC7-D0DA-436C-8A01-4792227D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570" y="3705918"/>
            <a:ext cx="4620270" cy="27730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795749-8394-4102-94CB-F174A2F63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653" y="1564695"/>
            <a:ext cx="3373208" cy="2031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185016-863D-429E-B699-9841B7695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235" y="3925879"/>
            <a:ext cx="4220164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3380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0CFA-1BB3-40BD-A7AE-5B638516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14691"/>
          </a:xfrm>
        </p:spPr>
        <p:txBody>
          <a:bodyPr/>
          <a:lstStyle/>
          <a:p>
            <a:pPr algn="ctr"/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MACRO &amp; AUTOMATION</a:t>
            </a: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2FCB0-9C3F-4AF7-A35A-B6398C0E1995}"/>
              </a:ext>
            </a:extLst>
          </p:cNvPr>
          <p:cNvSpPr txBox="1"/>
          <p:nvPr/>
        </p:nvSpPr>
        <p:spPr>
          <a:xfrm>
            <a:off x="251792" y="848140"/>
            <a:ext cx="4558748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Macro used: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Format sheets 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Benefits: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Saves time, ensures consistency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A4E46-FE6F-454D-AB26-EB6A21E2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6" y="2835965"/>
            <a:ext cx="10310192" cy="3723861"/>
          </a:xfrm>
          <a:prstGeom prst="rect">
            <a:avLst/>
          </a:prstGeom>
        </p:spPr>
      </p:pic>
      <p:pic>
        <p:nvPicPr>
          <p:cNvPr id="8" name="Graphic 7" descr="Arrow: Slight curve with solid fill">
            <a:extLst>
              <a:ext uri="{FF2B5EF4-FFF2-40B4-BE49-F238E27FC236}">
                <a16:creationId xmlns:a16="http://schemas.microsoft.com/office/drawing/2014/main" id="{6B981A84-E8CB-4798-8EAD-CF337F2A1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203636" y="2246244"/>
            <a:ext cx="209384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0062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7495-A437-4817-A9BF-A498680C3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74934"/>
          </a:xfrm>
        </p:spPr>
        <p:txBody>
          <a:bodyPr/>
          <a:lstStyle/>
          <a:p>
            <a:pPr algn="ctr"/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POWER PIVOT:</a:t>
            </a: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B9AC1-1BB0-42E7-88D1-7A88FE153D35}"/>
              </a:ext>
            </a:extLst>
          </p:cNvPr>
          <p:cNvSpPr txBox="1"/>
          <p:nvPr/>
        </p:nvSpPr>
        <p:spPr>
          <a:xfrm>
            <a:off x="530087" y="927652"/>
            <a:ext cx="10588486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RELATIONSHIP DENERATED: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Generated two tables like product table and customer table.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Generated relationship between two tables.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Generated power pivot and pivot.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10A70-19EB-483B-ABD8-0C0EBDCB5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62" y="3091502"/>
            <a:ext cx="4638260" cy="2838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B3709-AE5E-4F21-BFBD-48E7BA509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008" y="2829340"/>
            <a:ext cx="5049780" cy="316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1087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7104-95B4-4826-883F-A77B981CB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9466"/>
            <a:ext cx="9404723" cy="395421"/>
          </a:xfrm>
        </p:spPr>
        <p:txBody>
          <a:bodyPr/>
          <a:lstStyle/>
          <a:p>
            <a:pPr algn="ctr"/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INSIGHTS &amp; RECOMMENDATION:</a:t>
            </a: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85C8E-4465-4F8E-9503-C80539EB2272}"/>
              </a:ext>
            </a:extLst>
          </p:cNvPr>
          <p:cNvSpPr txBox="1"/>
          <p:nvPr/>
        </p:nvSpPr>
        <p:spPr>
          <a:xfrm>
            <a:off x="609600" y="1205948"/>
            <a:ext cx="102836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Low sales in beauty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Sales peaked in holidays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CBA6F-B76D-4624-9E57-4587364CF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966" y="2686879"/>
            <a:ext cx="8852452" cy="3859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2DB28A-7F3E-4CA1-9630-22D8F624CA6A}"/>
              </a:ext>
            </a:extLst>
          </p:cNvPr>
          <p:cNvSpPr txBox="1"/>
          <p:nvPr/>
        </p:nvSpPr>
        <p:spPr>
          <a:xfrm>
            <a:off x="5062330" y="1086678"/>
            <a:ext cx="6387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Run seasonal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Raise prices slightly on high-demand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Target marketing by age and gender segments with highest spending.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70915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0A7F-481E-47F5-BF50-C403AA26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74644"/>
            <a:ext cx="9404723" cy="514691"/>
          </a:xfrm>
        </p:spPr>
        <p:txBody>
          <a:bodyPr/>
          <a:lstStyle/>
          <a:p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CONCLUSION:</a:t>
            </a: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b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</a:br>
            <a:endParaRPr lang="en-IN" sz="1800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44097-D301-48DB-A088-C68BA05A9128}"/>
              </a:ext>
            </a:extLst>
          </p:cNvPr>
          <p:cNvSpPr txBox="1"/>
          <p:nvPr/>
        </p:nvSpPr>
        <p:spPr>
          <a:xfrm>
            <a:off x="778633" y="1389335"/>
            <a:ext cx="101014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SUMMARY: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Retail sales dataset analysed with excel tools</a:t>
            </a:r>
          </a:p>
          <a:p>
            <a:endParaRPr lang="en-GB" dirty="0"/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Actionable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Impact on 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Need to increase quality and establish more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Make promotions and adds</a:t>
            </a:r>
          </a:p>
          <a:p>
            <a:endParaRPr lang="en-GB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84464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7A1-89B0-4989-9962-2482B92C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772" y="2175501"/>
            <a:ext cx="9404723" cy="1400530"/>
          </a:xfrm>
        </p:spPr>
        <p:txBody>
          <a:bodyPr/>
          <a:lstStyle/>
          <a:p>
            <a:r>
              <a:rPr lang="en-GB" sz="9600" dirty="0">
                <a:latin typeface="Segoe Script" panose="030B0504020000000003" pitchFamily="66" charset="0"/>
              </a:rPr>
              <a:t>THANK YOU</a:t>
            </a:r>
            <a:endParaRPr lang="en-IN" sz="9600" dirty="0">
              <a:latin typeface="Segoe Script" panose="030B0504020000000003" pitchFamily="66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A988DC-4CB9-4E85-8475-3577BE8D4F4D}"/>
              </a:ext>
            </a:extLst>
          </p:cNvPr>
          <p:cNvCxnSpPr/>
          <p:nvPr/>
        </p:nvCxnSpPr>
        <p:spPr>
          <a:xfrm>
            <a:off x="2040835" y="0"/>
            <a:ext cx="92765" cy="246490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ACED61-D0A6-424C-B9B7-151A1AFD2879}"/>
              </a:ext>
            </a:extLst>
          </p:cNvPr>
          <p:cNvCxnSpPr>
            <a:cxnSpLocks/>
          </p:cNvCxnSpPr>
          <p:nvPr/>
        </p:nvCxnSpPr>
        <p:spPr>
          <a:xfrm>
            <a:off x="2816087" y="0"/>
            <a:ext cx="0" cy="232020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B4D45D-6E74-4C58-8B98-DFD08A81F52A}"/>
              </a:ext>
            </a:extLst>
          </p:cNvPr>
          <p:cNvCxnSpPr>
            <a:cxnSpLocks/>
          </p:cNvCxnSpPr>
          <p:nvPr/>
        </p:nvCxnSpPr>
        <p:spPr>
          <a:xfrm>
            <a:off x="4088295" y="0"/>
            <a:ext cx="125896" cy="232020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9C83A7-3330-4033-856F-ABDAF9052711}"/>
              </a:ext>
            </a:extLst>
          </p:cNvPr>
          <p:cNvCxnSpPr/>
          <p:nvPr/>
        </p:nvCxnSpPr>
        <p:spPr>
          <a:xfrm>
            <a:off x="4750904" y="0"/>
            <a:ext cx="92765" cy="246490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A37FA-9CC7-4C82-A160-049E52675F9C}"/>
              </a:ext>
            </a:extLst>
          </p:cNvPr>
          <p:cNvCxnSpPr/>
          <p:nvPr/>
        </p:nvCxnSpPr>
        <p:spPr>
          <a:xfrm>
            <a:off x="5770853" y="0"/>
            <a:ext cx="92765" cy="246490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BFBEE5-999F-4871-94D7-3FD7D3DE79FF}"/>
              </a:ext>
            </a:extLst>
          </p:cNvPr>
          <p:cNvCxnSpPr/>
          <p:nvPr/>
        </p:nvCxnSpPr>
        <p:spPr>
          <a:xfrm>
            <a:off x="9020413" y="20951"/>
            <a:ext cx="92765" cy="246490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FF995D-E4AC-4A65-8C96-543B7755264F}"/>
              </a:ext>
            </a:extLst>
          </p:cNvPr>
          <p:cNvCxnSpPr/>
          <p:nvPr/>
        </p:nvCxnSpPr>
        <p:spPr>
          <a:xfrm>
            <a:off x="8089916" y="20951"/>
            <a:ext cx="92765" cy="246490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1B1D82-6AF8-4B8E-98AC-8F0853C24194}"/>
              </a:ext>
            </a:extLst>
          </p:cNvPr>
          <p:cNvCxnSpPr/>
          <p:nvPr/>
        </p:nvCxnSpPr>
        <p:spPr>
          <a:xfrm>
            <a:off x="7066654" y="20951"/>
            <a:ext cx="92765" cy="246490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3114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1102</TotalTime>
  <Words>424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Arial Black</vt:lpstr>
      <vt:lpstr>Book Antiqua</vt:lpstr>
      <vt:lpstr>Bookman Old Style</vt:lpstr>
      <vt:lpstr>Calibri</vt:lpstr>
      <vt:lpstr>Cambria</vt:lpstr>
      <vt:lpstr>Century Gothic</vt:lpstr>
      <vt:lpstr>Courier New</vt:lpstr>
      <vt:lpstr>Segoe Script</vt:lpstr>
      <vt:lpstr>Wingdings</vt:lpstr>
      <vt:lpstr>Wingdings 3</vt:lpstr>
      <vt:lpstr>Ion</vt:lpstr>
      <vt:lpstr>RETAIL SALES DATASET ANALYSIS – ADVANCED EXCEL PROJECT </vt:lpstr>
      <vt:lpstr>PowerPoint Presentation</vt:lpstr>
      <vt:lpstr>PowerPoint Presentation</vt:lpstr>
      <vt:lpstr>CALCULATION OF DERIVED METRICS :        </vt:lpstr>
      <vt:lpstr>PIVOT TABLE AND PIVOT CHARTS :  </vt:lpstr>
      <vt:lpstr>DASHBOARD OVERVIEW:</vt:lpstr>
      <vt:lpstr>What-if analysis &amp; Goal Seek </vt:lpstr>
      <vt:lpstr>MACRO &amp; AUTOMATION</vt:lpstr>
      <vt:lpstr>POWER PIVOT: </vt:lpstr>
      <vt:lpstr>INSIGHTS &amp; RECOMMENDATION: </vt:lpstr>
      <vt:lpstr>CONCLUSION: 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DATASET </dc:title>
  <dc:creator>shaminiprabakaran03@gmail.com</dc:creator>
  <cp:lastModifiedBy>shaminiprabakaran03@gmail.com</cp:lastModifiedBy>
  <cp:revision>48</cp:revision>
  <dcterms:created xsi:type="dcterms:W3CDTF">2025-11-24T17:40:42Z</dcterms:created>
  <dcterms:modified xsi:type="dcterms:W3CDTF">2025-12-07T14:28:33Z</dcterms:modified>
</cp:coreProperties>
</file>